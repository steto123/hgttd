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190" y="146304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2468880"/>
            <a:ext cx="85340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</a:defRPr>
            </a:pPr>
            <a:r>
              <a:t>HGTTD</a:t>
            </a:r>
          </a:p>
          <a:p>
            <a:pPr algn="ctr">
              <a:defRPr sz="2200" b="1">
                <a:solidFill>
                  <a:srgbClr val="F8FAFC"/>
                </a:solidFill>
              </a:defRPr>
            </a:pPr>
            <a:r>
              <a:t>Hitchhiker's Guide through the Database 🌌🪐</a:t>
            </a:r>
          </a:p>
          <a:p>
            <a:pPr algn="ctr"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Der interaktive Multimodal-Begleiter für Spektroskopie, Strukturaufklärung &amp; Chemische KI</a:t>
            </a:r>
            <a:br/>
            <a:r>
              <a:t>NMR (3,37 Mio) • MS (1,75 Mio) • IR (133k) • DLNMR1 KI-Zuordnung • 3D-Konformere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66344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Python 3.11 • PySide6 / Qt6 • RDKit • PyTorch CPU • Ketcher • 3Dmol.js</a:t>
            </a:r>
            <a:br/>
            <a:r>
              <a:t>» DON'T PANIC 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MOTIVATION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Herausforderungen in der Spektroskopie &amp; Strukturaufklärung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Spektroskopie, Strukturaufklärung &amp; Cheminformatik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Fragmentierte Dateninseln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● Problem in Labor &amp; Forschung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NMR-, MS- und IR-Daten liegen historisch in getrennten Silos vor.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Unterschiedliche Formate (JCAMP, MSP, SDF, Parquet) erschweren parallele Analysen.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Hoher manueller Aufwand beim Abgleich experimenteller Spektren mit Literaturdaten.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Kommerzielle Software-Suiten sind teuer, schwerfällig und cloudgebunden.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Manuelle Peak-Zuordnung</a:t>
            </a:r>
          </a:p>
          <a:p>
            <a:pPr>
              <a:defRPr sz="900" b="1">
                <a:solidFill>
                  <a:srgbClr val="A855F7"/>
                </a:solidFill>
              </a:defRPr>
            </a:pPr>
            <a:r>
              <a:t>● Flaschenhals der Analytik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Die Zuordnung von NMR-Signalen zu Atompositionen ist zeitintensiv und fehleranfällig.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Stereochemie, Diastereotopie und Rotationssymmetrien erfordern komplexe Betrachtungen.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Theoretische DFT-Rechnungen (z.B. ωB97X-D) dauern Stunden bis Tage pro Molekül.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Bedarf an schneller In-situ-Inferenz direkt am Spektrometer oder Arbeitsplatz.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Die HGTTD-Lösung</a:t>
            </a:r>
          </a:p>
          <a:p>
            <a:pPr>
              <a:defRPr sz="900" b="1">
                <a:solidFill>
                  <a:srgbClr val="22C55E"/>
                </a:solidFill>
              </a:defRPr>
            </a:pPr>
            <a:r>
              <a:t>● Ganzheitlicher Ansatz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Vollständig autarke Desktop-Suite ohne Cloud-Zwang mit nativem Dark Theme.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Über 5,2 Millionen Spektren direkt auf der Festplatte in optimierten Indexen.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Deep-Learning-Vorhersage (DLNMR1) in &lt; 20 ms mit automatischem Bipartite-Matching.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Nahtlose Integration: 2D-Editor, 3D-Viewer, NMR, MS, IR &amp; automatische Laborberichte.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WISSENSCHAFTLICHE FUNDIERUNG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Gigantische Multimodale Datenbasis (5,2+ Millionen Spektren)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Spektroskopie, Strukturaufklärung &amp; Cheminformatik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NMRexp (Nature 2025)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3,37 Mio. NMR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3.372.987 NMR-Datensätze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Extrahiert aus knapp 200.000 Publikationen (2010–2024).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6 Kerne: 1H, 13C, 19F, 31P, 11B, 29Si.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Direkte DOI-Verlinkung zur Originalarbeit.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Optimiertes Apache Parquet-Speicherformat.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18288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MoNa MassBank (UC Davis)</a:t>
            </a:r>
          </a:p>
          <a:p>
            <a:pPr>
              <a:defRPr sz="900" b="1">
                <a:solidFill>
                  <a:srgbClr val="A855F7"/>
                </a:solidFill>
              </a:defRPr>
            </a:pPr>
            <a:r>
              <a:t>● 1,75 Mio.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7744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1.756.800 Massenspektren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271.982 chemische Verbindungen.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GC-MS (EI 70 eV) &amp; hochauflösendes LC-MS/MS (QTOF, Orbitrap).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Precursor m/z-Index mit binärer O(log N) Suche.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Positive &amp; Negative Ionisation.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SQuIRL &amp; NIST (IR)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● 133k 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7744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133.883 Schwingungsspektren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Hochpräzise DFT-Frequenzen (ωB97X-D/aug-cc-pVTZ).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Experimentelle NIST WebBook Gas- und Flüssig-Infrarotspektren.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Transmittanz &amp; Extinktion.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Substruktur-Index in Millisekunden.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18288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nmrshiftdb2 &amp; 3D</a:t>
            </a:r>
          </a:p>
          <a:p>
            <a:pPr>
              <a:defRPr sz="900" b="1">
                <a:solidFill>
                  <a:srgbClr val="22C55E"/>
                </a:solidFill>
              </a:defRPr>
            </a:pPr>
            <a:r>
              <a:t>● 54k 3D-Strukturen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37744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54.000+ organische Moleküle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DFT-optimierte 3D-Koordinaten.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Experimentelle 13C-Verschiebungen.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Universität zu Köln / Chemnitz.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Strukturaufklärung mit CC-BY-SA 4.0 Open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BENUTZEROBERFLÄCHE &amp; BEDIENUNG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Intuitive Arbeitsumgebung &amp; Integrierter Ketcher 2D-Editor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Spektroskopie, Strukturaufklärung &amp; Cheminformatik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Eingebetteter EPAM Ketcher Moleküleditor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Zentraler Zeichenbereich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Vollwertiger Web-basierter chemischer Editor direkt in Qt6 (QWebEngine / lokaler HTTP-Server).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Garantierte Mindestbreite (&gt;= 33,3 %) für ermüdungsfreies Zeichnen komplexer Naturstoffe.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Unterstützt Stereochemie, R-Gruppen, Reaktionen, Ladungen, Isotope und Vorlagen.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1-Klick-Übernahme: 'In Ketcher laden' aus Suchtreffern, NMRexp-Browser oder Logbuch.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Export/Import: SMILES, InChI, Molfile V2000/V3000 in Echtzeit synchronisiert.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Ergonomie &amp; Kosmisches Design</a:t>
            </a:r>
          </a:p>
          <a:p>
            <a:pPr>
              <a:defRPr sz="900" b="1">
                <a:solidFill>
                  <a:srgbClr val="60A5FA"/>
                </a:solidFill>
              </a:defRPr>
            </a:pPr>
            <a:r>
              <a:t>● Workflow &amp; Usability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Modernes 'Slate Dark'-Design (reduziert Augenbelastung bei langen Labor-Sessions).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Zweisprachige Lokalisierung: Vollständiges Umschalten zwischen Deutsch und Englisch via i18n.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Tastaturkürzel für Workflows (z.B. Alt+1 bis Alt+5 für Tabs, Schnelltasten für Zoom).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Geteilte Ansicht: Zeichnen links, Suchergebnisse &amp; Spektren-Tabs rechts.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Asynchrone Hintergrundsuche via Worker-Thread mit rotem Sofort-Abbruch-Button (🛑 Stopp).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CHEMISCHE SUCH-ENGINE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Multimodale Hochleistungs-Struktursuche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Spektroskopie, Strukturaufklärung &amp; Cheminformatik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🎯 Exakte Struktursuche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Exakter Abgleich (&lt; 5 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Identifiziert exakt übereinstimmende chemische Isomere via kanonischem RDKit SMILES / InChIKey.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Ultraschneller Hash-Lookup über Millionen Einträge in &lt; 5 Millisekunden.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Ideal zur schnellen Überprüfung von Syntheseprodukten und literaturbekannten Verbindungen.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Zeigt sofort verfügbare NMR-, MS- und IR-Datensätze parallel 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🧬 Substruktursuche</a:t>
            </a:r>
          </a:p>
          <a:p>
            <a:pPr>
              <a:defRPr sz="900" b="1">
                <a:solidFill>
                  <a:srgbClr val="A855F7"/>
                </a:solidFill>
              </a:defRPr>
            </a:pPr>
            <a:r>
              <a:t>● Cyan-Highlighting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Findet beliebige Leitstrukturen und Kernfragmente in komplexen Molekülen.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Vorkompilierte RDKit-Fingerprint-Indizes für Substrukturen in Millisekunden.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Atom- und bindungsgenaues Cyan-Highlighting (#38bdf8) in den Trefferkarten.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Filtermöglichkeit nach Messkernen (1H, 13C, 19F, 31P, 11B, 29Si).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🔮 Tanimoto-Ähnlichkeitssuche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● ECFP4 Morgan (2048-Bit)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ECFP4-Morgan-Fingerprints (Radius 2, 2048 Bit) zur Entdeckung struktureller Verwandter.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Einstellbarer Schwellenwert: &gt;= 60 %, &gt;= 70 %, &gt;= 80 % oder &gt;= 90 % Ähnlichkeit.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Farbige Relevanz-Badges (z.B. 🔮 88.5 %) direkt auf jeder Ergebniskarte.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Perfekt zur Spektren-Abschätzung neuartiger Derivate und Bioisostere.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KERNSPINRESONANZ (NMR)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Interaktiver 60-FPS NMR-Synthesizer &amp; Mirror-Plot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Spektroskopie, Strukturaufklärung &amp; Cheminformatik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Physikalische Spektren-Synthese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Echtzeit-Lorentz-Faltung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Kontinuierliche NumPy-vektorisierte Lorentz-Faltung in Echtzeit (60 FPS Canvas).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Pascal-Aufspaltungsbäume 1. Ordnung für Multipletts (s, d, t, q, quint, sext, dd, dt, dq, m).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Stufenlose FWHM-Linienbreite (0.2 bis 15.0 Hz) zur Simulation realer Relaxation.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Variable Spektrometerfrequenz (100 bis 800 MHz) für feldabhängige Kopplungsauflösung.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🪞 Spektrenvergleich &amp; Mirror-Plot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● Direkter Isomeren-Vergleich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Funktion 'Als Referenz merken' fixiert das aktuelle Spektrum in der Anzeige.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Gespiegelter Invert-Plot unter der Basislinie für direkten 1:1-Isomerenvergleich.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Kumulative bernsteinfarbene Integralkurve für quantitative 1H-Peak-Flächen.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Fadenkreuz mit dynamischem Tooltip für chemische Verschiebung (δ), J und Integral.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Cross-Highlighting &amp; Export</a:t>
            </a:r>
          </a:p>
          <a:p>
            <a:pPr>
              <a:defRPr sz="900" b="1">
                <a:solidFill>
                  <a:srgbClr val="22C55E"/>
                </a:solidFill>
              </a:defRPr>
            </a:pPr>
            <a:r>
              <a:t>● Interaktion &amp; JCAMP-DX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Peak ↔ 3D-Atom-Verknüpfung: Hover/Klick auf Peak färbt Atom in 3D-Struktur golden.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Volle IUPAC JCAMP-DX 5.01 Kompatibilität (##XYDATA und ##PEAK TABLE).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Nahtloser Transfer exportierter Dateien in MestReNova, TopSpin oder Spekwin32.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Unterstützt alle 6 Kerne: 1H, 13C, 19F, 31P, 11B, 29Si.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KÜNSTLICHE INTELLIGENZ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KI-gestützte Peak-Zuordnung: DLNMR1 &amp; Bipartites Matching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Spektroskopie, Strukturaufklärung &amp; Cheminformatik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DLNMR1 Deep Learning Inferenz</a:t>
            </a:r>
          </a:p>
          <a:p>
            <a:pPr>
              <a:defRPr sz="900" b="1">
                <a:solidFill>
                  <a:srgbClr val="A855F7"/>
                </a:solidFill>
              </a:defRPr>
            </a:pPr>
            <a:r>
              <a:t>● Wavefunction Inc. (JOC 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Wavefunction, Inc. / JOC 2025: Lokales PyTorch TorchScript-Modell (DLNMR1.pt).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Reproduziert quantenchemische ωB97X-D/6-31G* DFT-Verschiebungen.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Ultraschnelle Inferenz auf Standard-Desktop-CPUs (&lt; 20 ms pro Molekül).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Berechnung von 1H- und 13C-Verschiebungen ohne Cloud oder externe Server.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Hybrid-Symmetrie &amp; Bipartite Solver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Kuhn-Munkres Algorithmus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Topologisches Symmetrie-Ranking zerlegt rotierbare Bindungen.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Erhält freie Rotationsäquivalenzen (z.B. CH3) bei gleichzeitiger Detektion von Diastereotopie.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Kuhn-Munkres (Ungarischer Algorithmus) Solver in reinem NumPy (&lt; 0.1 ms).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Findet die mathematisch globale Minimal-Kosten-Zuordnung Experiment ↔ Theorie.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Visuelle Zuordnungs-Ergebnisse</a:t>
            </a:r>
          </a:p>
          <a:p>
            <a:pPr>
              <a:defRPr sz="900" b="1">
                <a:solidFill>
                  <a:srgbClr val="22C55E"/>
                </a:solidFill>
              </a:defRPr>
            </a:pPr>
            <a:r>
              <a:t>● Metriken &amp; Konfidenz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Peak-Tags direkt im Spektrum (z.B. 'C1', 'C2,6', '2H(C2,6)', '9H(C5,6,7)').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Theoretische est-NMR Drop-Lines zum visuellen Abweichungs-Vergleich.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2D-SVG-Hervorhebung der zugeordneten Atome in korrespondierenden Signalfarben.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Konfidenz-Ampel (Sehr gut / Mäßig / Gering) mit Mean Absolute Error (MAE) und Δδ.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MASSENSPEKTROMETRIE (MS)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MoNa Massenspektrometrie &amp; Interaktiver Neutral-Loss-Rechner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Spektroskopie, Strukturaufklärung &amp; Cheminformatik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1,75 Mio. MoNa Massenspektren</a:t>
            </a:r>
          </a:p>
          <a:p>
            <a:pPr>
              <a:defRPr sz="900" b="1">
                <a:solidFill>
                  <a:srgbClr val="A855F7"/>
                </a:solidFill>
              </a:defRPr>
            </a:pPr>
            <a:r>
              <a:t>● High-Speed Parquet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Vollständige MassBank of North America Datenbank (UC Davis, Oliver Fiehn Lab).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High-Speed Apache Parquet Engine mit Vorfilter-Index für 270.000 Substanzen.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Precursor m/z-Intervallsuche (± ppm / Da) via binärem O(log N) Index.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Umfasst hochauflösende LC-MS/MS (QTOF, Orbitrap) sowie GC-MS EI (70 eV).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60-FPS MS-Stick-Viewer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Farbcodierter Stick-Viewer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Aufsteigende m/z-Achse von links nach rechts mit relativen Intensitäten (0–100 %).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Intelligente Farbcodierung: Gold (Basispeak), Grün (Precursor/Addukt), Cyan (Fragmente).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Echtzeit Cutoff-Slider (0–25 %) zur Ausblendung von Rauschen und Matrixpeaks.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Zoom, Pan, Tooltip mit Intensität und Peak-Beschriftung oberhalb der Sticks.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Interaktiver Neutral-Loss-Rechner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● Automatischer Verlust-Abgleich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2-Klick-Messung: Klick auf Precursor und Fragment ermittelt exakte Massendifferenz Δm/z.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Automatische chemische Interpretation typischer Neutralabspaltungen: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- 18.01 Da → -H2O (Wasserabspaltung) | 27.99 Da → -CO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- 17.03 Da → -NH3 (Ammoniak) | 43.99 Da → -CO2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- 15.02 Da → -CH3 | 60.02 Da → -CH3COOH (Essigsäure).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Export in standardisierte Formate: NIST MSP &amp; IUPAC JCAMP-DX 5.01.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INFRAROTSPEKTROSKOPIE (IR)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SQuIRL &amp; NIST: FT-IR Spektren &amp; Banden-Annotation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Spektroskopie, Strukturaufklärung &amp; Cheminformatik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133.883 DFT &amp; NIST IR-Spektren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● DFT &amp; Experimentell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SQuIRL: Anharmonische &amp; harmonische DFT-Quantenchemie (ωB97X-D/aug-cc-pVTZ).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NIST WebBook SRD 69: Experimentelle Gas- und Flüssigphasen-Infrarotspektren.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Parquet-basierter Substruktur-Vorfilter für blitzschnelle IR-Abfragen.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Standard-Wellenzahlenbereich von 4000 bis 400 cm⁻¹.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Transmittanz- &amp; Extinktions-Viewer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Umschaltbare Optik (%T / Abs)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Interaktiver 60-FPS HTML5-Canvas mit klassischer Spektroskopie-Darstellung.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Umschaltbar zwischen Transmittanz (%T, Täler) und Extinktion (Absorbance, Peaks).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Echtzeit-Lorentz-Faltung mit stufenloser Linienbreite (FWHM 4 bis 30 cm⁻¹).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Mausrad-Zoom auf Peak-Details, horizontales Panning und Intensitätsskalierung.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Funktionelle Gruppen Annotation</a:t>
            </a:r>
          </a:p>
          <a:p>
            <a:pPr>
              <a:defRPr sz="900" b="1">
                <a:solidFill>
                  <a:srgbClr val="22C55E"/>
                </a:solidFill>
              </a:defRPr>
            </a:pPr>
            <a:r>
              <a:t>● Banden-Zonen &amp; JCAMP-DX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Automatische Banden-Zonierung für funktionelle Gruppen: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- 3600–3200 cm⁻¹: O-H / N-H Valenzschwingungen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- 3100–2850 cm⁻¹: C-H aliphatisch / aromatisch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- 1750–1680 cm⁻¹: C=O Carbonyl-Bande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- 2260–2100 cm⁻¹: Dreifachbindungen (C≡C, C≡N)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- &lt; 1500 cm⁻¹: Fingerprint-Region.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Vollständiger IUPAC JCAMP-DX 5.01 Infrarot-Export.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3D-MOLEKÜLBETRACHTER (WEBGL)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3D-Konformere &amp; Interaktive Kraftfeld-Minimierung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Spektroskopie, Strukturaufklärung &amp; Cheminformatik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3Dmol.js WebGL-Integration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Hardwarebeschleunigtes WebGL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Hochperformante dreidimensionale Darstellung direkt im GUI-Tab.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Vorgefertigte quantenmechanisch optimierte 3D-Koordinaten aus nmrshiftdb2.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Automatische Generierung plausibler 3D-Startkonformere via RDKit ETKDGv3 aus beliebigen SMILES.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Freies Drehen, Schwenken und Zoomen mit Maussteuerung.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Echtzeit-Cross-Highlighting: Peak-Auswahl färbt das korrespondierende Atom als goldene Sphäre.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⚡ MMFF94-Kraftfeld Energieminimierung</a:t>
            </a:r>
          </a:p>
          <a:p>
            <a:pPr>
              <a:defRPr sz="900" b="1">
                <a:solidFill>
                  <a:srgbClr val="A855F7"/>
                </a:solidFill>
              </a:defRPr>
            </a:pPr>
            <a:r>
              <a:t>● Molekülmechanik (MMFF94)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Integrierte RDKit MMFF94 (Merck Molecular Force Field) Optimierungs-Engine.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1-Klick-Aktivierung: '⚡ MMFF94 Optimieren' relaxiert Bindungslängen, Valenz- und Torsionswinkel.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Animierte Konformations-Relaxation: Der Anwender sieht dem Molekül bei der Faltung zu.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Berechnung und Ausgabe der konformativen Gesamtenergie in kcal/mol.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Beseitigt sterische Überlappungen für realistische Geometrie-Vergleiche.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DOKUMENTATION &amp;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Persistentes Logbuch &amp; Automatisierte Laborberichte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Spektroskopie, Strukturaufklärung &amp; Cheminformatik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📔 Persistentes Forschungs-Logbuch (SQLite)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● Persistente SQLite-Engine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Lokale relationale Datenbank (user_logbook.db) überdauert Neustarts zuverlässig.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Tab 'Logbuch' (Alt+5) mit Lesezeichen (⭐ Favoriten) und lückenlosem Verlauf (🕒 Historie).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Ein-Klick-Lesezeichen auf jeder Suchtrefferkarte und im NMRexp-Browser.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Labor-Notizen-Editor und Schlagwort/Tag-Verwaltung für strukturiertes Forschungsmanagement.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Schnellaktionen: Moleküle direkt nach Ketcher, in 3D oder in den NMR-Viewer übertragen.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📑 Automatisierter Laborbericht (HTML / PDF)</a:t>
            </a:r>
          </a:p>
          <a:p>
            <a:pPr>
              <a:defRPr sz="900" b="1">
                <a:solidFill>
                  <a:srgbClr val="22C55E"/>
                </a:solidFill>
              </a:defRPr>
            </a:pPr>
            <a:r>
              <a:t>● Druckfertiger A4-Report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Generierung druckfertiger A4-Analysenzertifikate mit einem Klick.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Enthält nummerierte hochauflösende 2D-Strukturformel und chemische Kenndaten.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Vollständige Peakzuordnungstabelle (Multiplizität, Kopplungskonstanten, Integrale, DLNMR1-Werte).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Automatische Einbindung von Labor-Notizen und Tags aus dem persönlichen Logbuch.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Export als formatierte HTML-Seite und vektorbasiertes druckfertiges PDF.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TECHNOLOGIE-STACK &amp; ARCHITEKTUR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Modulare Software-Architektur &amp; Robuste Pipeline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Spektroskopie, Strukturaufklärung &amp; Cheminformatik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Präsentation &amp; UI-Schicht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PySide6 / Qt6 Desktop GUI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PySide6 / Qt6 für native Desktop-Performance auf Windows 10/11.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QWebEngineView für Ketcher 2D-Editor, 3Dmol.js und HTML5-Canvas Spektren.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Zweisprachige Lokalisierungs-Engine (i18n.py) mit Echtzeit-Sprachwechsel.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Persistentes Konfigurationsmanagement via config_manager.py (JSON).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Asynchrone Inferenz &amp; Worker</a:t>
            </a:r>
          </a:p>
          <a:p>
            <a:pPr>
              <a:defRPr sz="900" b="1">
                <a:solidFill>
                  <a:srgbClr val="A855F7"/>
                </a:solidFill>
              </a:defRPr>
            </a:pPr>
            <a:r>
              <a:t>● Asynchron &amp; Multithreaded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SearchWorker-Thread entkoppelt rechenintensive Suchen von der GUI.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PyTorch TorchScript (CPU) für sub-20ms DLNMR1 Deep-Learning-Vorhersagen.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Reiner NumPy Kuhn-Munkres Bipartite Matching Solver (&lt; 0.1 ms).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RDKit Cheminformatik-Pipeline für Fingerprints, MMFF94 und SMILES/InChI.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Daten-Engine &amp; Formate</a:t>
            </a:r>
          </a:p>
          <a:p>
            <a:pPr>
              <a:defRPr sz="900" b="1">
                <a:solidFill>
                  <a:srgbClr val="22C55E"/>
                </a:solidFill>
              </a:defRPr>
            </a:pPr>
            <a:r>
              <a:t>● Parquet, SQLite &amp; JCAMP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Apache Parquet mit Snappy-Kompression für Millionen Spektren in Sekundenbruchteilen.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Binäre NumPy npz-Indizes für Precursor-m/z und Kernspin-Vorfilterung.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Lokale SQLite-Datenbank für das Forschungs-Logbuch.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Standard-Exporte: IUPAC JCAMP-DX 5.01, NIST MSP, CSV, SDF, HTML &amp; PDF.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ANWENDUNGSBEREICHE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Typische Workflows &amp; Zielgruppen in Labor &amp; Lehre</a:t>
            </a:r>
          </a:p>
        </p:txBody>
      </p:sp>
      <p:pic>
        <p:nvPicPr>
          <p:cNvPr id="6" name="Picture 5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Spektroskopie, Strukturaufklärung &amp; Cheminformatik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Synthesechemie &amp; Qualitätskontrolle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Organische Synthese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Schneller Abgleich von Reaktionsprodukten mit über 3,37 Mio. Literatur-NMR-Spektren.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Validierung von Isomerenreinheit via gespiegeltem Mirror-Plot.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Zuordnung unbekannter Signale durch KI-Vorhersage ohne lange DFT-Rechenzeiten.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Sofortiger PDF-Laborbericht zur Ablage in Laborjournalen und Veröffentlichungen.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Analytik &amp; Metabolomics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● Bioanalytik &amp; Spurenanalytik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Identifizierung unbekannter Metaboliten und Verunreinigungen in komplexen Proben.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Durchmusterung von 1,75 Mio. MoNa Massenspektren nach Precursor-m/z.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Interaktive Aufklärung von Spaltmustern durch den Neutral-Loss-Rechner.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Kombination von MS-, IR- und NMR-Evidenzen für lückenlose Strukturbelege.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Universitäre Lehre &amp; Ausbildung</a:t>
            </a:r>
          </a:p>
          <a:p>
            <a:pPr>
              <a:defRPr sz="900" b="1">
                <a:solidFill>
                  <a:srgbClr val="22C55E"/>
                </a:solidFill>
              </a:defRPr>
            </a:pPr>
            <a:r>
              <a:t>● Didaktik &amp; Hochschule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Didaktisch wertvolles Werkzeug für Studierende der Chemie, Pharmazie und Biochemie.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Veranschaulicht physikalische Kopplungsmuster (Pascal-Bäume, Multipletts) stufenlos.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Hands-on Erfahrung mit modernster chemischer KI und multimodalen Datenbanken.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Völlig kostenfrei, portabel und ohne Lizenzbarrieren einsetzbar.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FAZIT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Zusammenfassung &amp; Ausblick: Die Zukunft von HGTTD</a:t>
            </a:r>
          </a:p>
        </p:txBody>
      </p:sp>
      <p:pic>
        <p:nvPicPr>
          <p:cNvPr id="7" name="Picture 6" descr="hgttd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02920"/>
            <a:ext cx="685800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HGTTD — Hitchhiker's Guide through the Database | Spektroskopie, Strukturaufklärung &amp; Cheminformatik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Highlights auf einen Blick</a:t>
            </a:r>
          </a:p>
          <a:p>
            <a:pPr>
              <a:defRPr sz="900" b="1">
                <a:solidFill>
                  <a:srgbClr val="38BDF8"/>
                </a:solidFill>
              </a:defRPr>
            </a:pPr>
            <a:r>
              <a:t>● Stärken von HGTTD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✓ 5,2+ Millionen Spektren: NMR (3,37M), MS (1,75M), IR (133k) &amp; 54k 3D-Strukturen.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✓ Autark &amp; Lokal: Keine Cloud-Abhängigkeit, volle Datensicherheit für Forschung &amp; Industrie.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✓ KI-gestützte Strukturaufklärung: DLNMR1-Inferenz (&lt; 20 ms) mit Kuhn-Munkres Matching.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✓ Maximale Interaktivität: 60-FPS Canvas-Viewer, Cross-Highlighting, Mirror-Plot, Neutral-Loss.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t>• ✓ Workflow-orientiert: Integriertes Ketcher, 3Dmol.js, SQLite-Logbuch &amp; A4-PDF-Report.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Ausblick &amp; Zukünftige Entwicklungen</a:t>
            </a:r>
          </a:p>
          <a:p>
            <a:pPr>
              <a:defRPr sz="900" b="1">
                <a:solidFill>
                  <a:srgbClr val="A855F7"/>
                </a:solidFill>
              </a:defRPr>
            </a:pPr>
            <a:r>
              <a:t>●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484632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rPr dirty="0"/>
              <a:t>• • </a:t>
            </a:r>
            <a:r>
              <a:rPr dirty="0" err="1"/>
              <a:t>Erweiterung</a:t>
            </a:r>
            <a:r>
              <a:rPr dirty="0"/>
              <a:t> der Deep-Learning-Modelle auf 19F- und 31P-Kerne.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rPr dirty="0"/>
              <a:t>• • 2D-NMR </a:t>
            </a:r>
            <a:r>
              <a:rPr dirty="0" err="1"/>
              <a:t>Spektren-Synthese</a:t>
            </a:r>
            <a:r>
              <a:rPr dirty="0"/>
              <a:t> (COSY, HSQC, HMBC)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interaktiver</a:t>
            </a:r>
            <a:r>
              <a:rPr dirty="0"/>
              <a:t> </a:t>
            </a:r>
            <a:r>
              <a:rPr dirty="0" err="1"/>
              <a:t>Konturplot-Darstellung</a:t>
            </a:r>
            <a:r>
              <a:rPr dirty="0"/>
              <a:t>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rPr dirty="0"/>
              <a:t>• • </a:t>
            </a:r>
            <a:r>
              <a:rPr dirty="0" err="1"/>
              <a:t>Direkte</a:t>
            </a:r>
            <a:r>
              <a:rPr dirty="0"/>
              <a:t> </a:t>
            </a:r>
            <a:r>
              <a:rPr dirty="0" err="1"/>
              <a:t>Schnittstelle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elektronischen</a:t>
            </a:r>
            <a:r>
              <a:rPr dirty="0"/>
              <a:t> </a:t>
            </a:r>
            <a:r>
              <a:rPr dirty="0" err="1"/>
              <a:t>Laborjournalen</a:t>
            </a:r>
            <a:r>
              <a:rPr dirty="0"/>
              <a:t> (ELN) und LIMS-</a:t>
            </a:r>
            <a:r>
              <a:rPr dirty="0" err="1"/>
              <a:t>Systemen</a:t>
            </a:r>
            <a:r>
              <a:rPr dirty="0"/>
              <a:t>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100">
                <a:solidFill>
                  <a:srgbClr val="CBD5E1"/>
                </a:solidFill>
              </a:defRPr>
            </a:pPr>
            <a:r>
              <a:rPr dirty="0"/>
              <a:t>•</a:t>
            </a:r>
            <a:r>
              <a:rPr lang="de-DE"/>
              <a:t>……..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2532</Words>
  <Application>Microsoft Office PowerPoint</Application>
  <PresentationFormat>Breitbild</PresentationFormat>
  <Paragraphs>275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Steffen Thomas</cp:lastModifiedBy>
  <cp:revision>2</cp:revision>
  <dcterms:created xsi:type="dcterms:W3CDTF">2013-01-27T09:14:16Z</dcterms:created>
  <dcterms:modified xsi:type="dcterms:W3CDTF">2026-10-14T07:57:26Z</dcterms:modified>
  <cp:category/>
</cp:coreProperties>
</file>