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146304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46888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HGTTD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t>Hitchhiker's Guide through the Database 🌌🪐</a:t>
            </a:r>
          </a:p>
          <a:p>
            <a:pPr algn="ctr"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The Interactive Multimodal Desktop Companion for Spectroscopy, Structure Elucidation &amp; Chemical AI</a:t>
            </a:r>
            <a:br/>
            <a:r>
              <a:t>NMR (3.37M) • MS (1.75M) • IR (133k) • DLNMR1 AI Auto-Assignment • 3D Conformers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Python 3.11 • PySide6 / Qt6 • RDKit • PyTorch CPU • Ketcher • 3Dmol.js</a:t>
            </a:r>
            <a:br/>
            <a:r>
              <a:t>» DON'T PANIC 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MOTIVATION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Challenges in Spectroscopy &amp; Structure Elucidation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Fragmented Data Silos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The Modern Lab Dilemma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NMR, MS, and IR spectra have historically been isolated in disconnected repositories.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Incompatible formats (JCAMP, MSP, SDF, Parquet) obstruct cross-method analytics.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High manual effort required to correlate experimental data with scientific literature.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Commercial spectroscopy suites are costly, monolithic, and increasingly cloud-locked.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Manual Peak Assignment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Analytical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Assigning NMR peaks to specific atom positions is tedious, complex, and prone to human error.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Stereochemistry, diastereotopicity, and conformational averaging require expert insight.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Quantum-chemical DFT shift calculations (e.g. ωB97X-D) take hours to days per molecule.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Urgent need for fast, on-device chemical shift inference directly at the benchtop.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The HGTTD Solution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Integrated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Fully standalone, self-contained desktop suite with native dark UI — zero cloud dependency.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Over 5.2 million curated spectra stored locally with lightning-fast query indices.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Deep-learning NMR inference (DLNMR1) in &lt; 20 ms with bipartite Kuhn-Munkres matching.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Seamless unified workflow: 2D Ketcher editor, 3D viewer, NMR, MS, IR &amp; automated lab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SCIENTIFIC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Vast Multimodal Data Foundation (5.2+ Million Spectra)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NMRexp (Nature 2025)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3.37M NMR Spectra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3,372,987 NMR spectra datasets.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Mined from ~200,000 publications (2010–2024).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6 Nuclei: 1H, 13C, 19F, 31P, 11B, 29Si.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Direct DOI link to peer-reviewed source literature.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High-performance Apache Parquet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MoNa MassBank (UC Davis)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1.75M Mass Spectra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1,756,800 mass spectra.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271,982 unique chemical entities.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GC-MS (EI 70 eV) &amp; high-res LC-MS/MS (QTOF, Orbitrap).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Precursor m/z index with binary O(log N) lookup.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Positive &amp; Negative ionization modes.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SQuIRL &amp; NIST (IR)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133k IR Spectra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133,883 vibrational spectra.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High-precision DFT frequencies (ωB97X-D/aug-cc-pVTZ).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Experimental NIST WebBook gas &amp; condensed phase IR spectra.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Transmittance &amp; Absorbance modes.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Sub-millisecond substructure filtering.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nmrshiftdb2 &amp; 3D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54k 3D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54,000+ organic molecules.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DFT-optimized 3D Cartesian coordinates.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Experimental assigned 13C chemical shifts.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University of Cologne / Chemnitz.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Open Data under CC-BY-SA 4.0 license.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USER INTERFACE &amp;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Intuitive Workspace &amp; Embedded Ketcher 2D Editor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Embedded EPAM Ketcher Chemical Editor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Central Drawing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Full-fledged web-based chemical sketcher hosted via local Qt6 HTTP server (QWebEngine).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Guaranteed split-screen minimum width (&gt;= 33.3%) for effortless complex molecule drawing.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Comprehensive support: stereochemistry, R-groups, charges, isotopes, and structure templates.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One-click transfer: 'Load into Ketcher' directly from search hits, NMRexp browser, or logbook.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Instant bidirectional sync: SMILES, InChI, and Molfile V2000/V3000 generation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Ergonomics &amp; Cosmic Design</a:t>
            </a:r>
          </a:p>
          <a:p>
            <a:pPr>
              <a:defRPr sz="900" b="1">
                <a:solidFill>
                  <a:srgbClr val="60A5FA"/>
                </a:solidFill>
              </a:defRPr>
            </a:pPr>
            <a:r>
              <a:t>● Productivity &amp; Ergonomics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Sleek modern Slate Dark theme designed to reduce eye strain during prolonged research sessions.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Dual-language localization: Instant toggle between German and English via centralized i18n.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Dedicated productivity shortcuts (e.g. Alt+1 to Alt+5 for tabs, fast canvas zoom &amp; pan).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Cohesive layout: Structure drawing on the left, tabbed spectrum viewers and results on the right.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Asynchronous non-blocking background search worker with instant emergency cancel (🛑 Stop).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CHEMICAL 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High-Performance Multimodal Structure Search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🎯 Exact Structure Search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Exact Lookup (&lt; 5 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Instant identification of identical chemical isomers via canonical RDKit SMILES / InChIKey.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Lightning-fast in-memory hash table lookup across millions of records in &lt; 5 ms.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Ideal for immediate verification of newly synthesized target molecules and compounds.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Aggregates available NMR, MS, and IR spectra simultaneously in a single hit 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🧬 Substructure Search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Cyan Atom Highlighting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Discovers specific scaffolds, functional groups, and pharmacophores in complex structures.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Precompiled RDKit fingerprint indices achieve query response times in milliseconds.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Precise atom- and bond-level cyan highlighting (#38bdf8) on all matched result cards.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Filter results by detected nucleus (1H, 13C, 19F, 31P, 11B, 29Si).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🔮 Tanimoto Similarity Search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ECFP4 Morgan (2048-bit)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ECFP4 Morgan circular fingerprints (Radius 2, 2048-bit) to identify structural analogs.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Configurable similarity cutoff thresholds: &gt;= 60%, &gt;= 70%, &gt;= 80%, or &gt;= 90%.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Prominent purple relevance score badges (e.g. 🔮 88.5%) displayed on each match.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Essential for estimating spectral properties of novel chemical derivatives and bioisosteres.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NUCLEAR MAGNETIC RESONANCE (NMR)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Interactive 60-FPS NMR Synthesizer &amp; Mirror Plot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Real-Time Physical Spectrum Synthesis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Vectorized Lorentzian Convolution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Continuous NumPy-vectorized Lorentzian peak convolution at a fluid 60 FPS HTML5 canvas.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1st-order Pascal splitting trees for authentic multiplets (s, d, t, q, quint, sext, dd, dt, m).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Adjustable FWHM linewidth (0.2 to 15.0 Hz) simulating real-world sample relaxation.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Tunable spectrometer frequency (100 to 800 MHz) for field-dependent multiplet dispersion.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🪞 Spectrum Comparison &amp; Mirror Plot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Comparative Mirror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'Pin as Reference' locks any active spectrum in place for comparative studies.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Inverted mirror plot displayed below baseline for direct 1:1 isomer and impurity validation.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Cumulative amber step integral curve for accurate quantitative 1H peak area assessment.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Dynamic interactive crosshair tooltip displaying chemical shift (δ), J-coupling, and integral.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Cross-Highlighting &amp; JCAMP Export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Interactivity &amp; JCAMP-DX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Peak ↔ 3D Atom linking: Hovering or clicking a peak highlights corresponding 3D atoms in gold.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Full IUPAC JCAMP-DX 5.01 compliance (##XYDATA and ##PEAK TABLE blocks).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Seamless interoperability with third-party tools: MestReNova, TopSpin, and Spekwin32.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Native multi-nucleus support: 1H, 13C, 19F, 31P, 11B, 29Si.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AI-Driven Peak Auto-Assignment: DLNMR1 &amp; Bipartite Solver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DLNMR1 Deep Learning Inference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Wavefunction Inc. (JOC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Wavefunction, Inc. / JOC 2025: On-device PyTorch TorchScript model (DLNMR1.pt).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Accurately reproduces quantum-chemical ωB97X-D/6-31G* DFT chemical shifts.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Blazing fast desktop CPU execution in &lt; 20 ms per molecule — no GPU or cloud required.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Provides theoretical 1H and 13C chemical shifts with quantum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Hybrid Symmetry &amp; Bipartite Matching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Kuhn-Munkres Matcher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Topological symmetry ranking systematically decomposes rotatable bonds.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Preserves free rotational equivalence (e.g. -CH3) while identifying true diastereotopicity.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Kuhn-Munkres (Hungarian algorithm) minimum-cost bipartite matching in pure NumPy (&lt; 0.1 ms).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Mathematically guarantees globally optimal mapping of experiment to theoretical atoms.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Visual Assignment &amp; Metrics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Confidence &amp; Visual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Direct peak tags rendered above signals (e.g. 'C1', 'C2,6', '2H(C2,6)', '9H(C5,6,7)').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Theoretical est-NMR drop-lines for immediate visual verification of calculated vs. observed.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2D structure SVG atom highlighting color-coded with matched spectrum peaks.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Confidence traffic-light status chip with Mean Absolute Error (MAE) and Δδ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MASS SPECTROMETRY (MS)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MoNa Mass Spectrometry &amp; Interactive Neutral-Loss Calculator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1.75M MoNa Mass Spectra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Optimized Parquet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Comprehensive MassBank of North America library (UC Davis, Oliver Fiehn Lab).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High-performance Apache Parquet storage with unique SMILES index for 270,000 compounds.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Precursor m/z interval search (± ppm / Da) powered by a binary O(log N) index.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Includes high-resolution LC-MS/MS (QTOF, Orbitrap) and GC-MS standard EI (70 eV).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60-FPS MS Stick Viewer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Color-Coded Stick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Ascending m/z axis from left to right with relative intensity normalization (0–100%).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Smart color-coding: Amber-gold (base peak), emerald-green (precursor/adduct), neon-cyan (fragments).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Real-time noise cutoff slider (0–25%) eliminates background noise and matrix artifacts.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Smooth mousewheel zoom, horizontal pan, interactive tooltips, and top-stick peak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Interactive Neutral-Loss Calculator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Automated Loss Identification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Two-click delta measurement: Clicking precursor and fragment computes exact Δm/z in real time.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Automated pattern recognition against standard biochemical neutral losses: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- 18.01 Da → -H2O (water loss) | 27.99 Da → -CO (carbon monoxide)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- 17.03 Da → -NH3 (ammonia) | 43.99 Da → -CO2 (decarboxylation)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- 15.02 Da → -CH3 | 60.02 Da → -CH3COOH (acetic acid).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Standardized export in NIST MSP and IUPAC JCAMP-DX 5.01 formats.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INFRARED SPECTROSCOPY (IR)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SQuIRL &amp; NIST: FT-IR Spectra &amp; Functional Group Annotation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133k DFT &amp; NIST IR Spectra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Quantum &amp; Experimental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SQuIRL: Anharmonic &amp; harmonic DFT quantum chemistry (ωB97X-D/aug-cc-pVTZ).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NIST WebBook SRD 69: Authentic experimental gas-phase and liquid condensed-phase IR spectra.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Fast Parquet-based substructure prefilter for sub-second query responses.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Standard spectroscopic wavenumber range spanning 4000 to 400 cm⁻¹.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Transmittance &amp; Absorbance Viewer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Dual Mode (%T / Abs)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Interactive 60-FPS HTML5 canvas honoring classic spectroscopic graphing conventions.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Instant toggle between Transmittance (%T, inverted valleys) and Absorbance (positive peaks).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Live Lorentzian convolution with adjustable FWHM bandwidth (4 to 30 cm⁻¹).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Mouse-centered zoom, smooth panning, and vertical dynamic range scaling.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Functional Group Band Annotation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Band Zones &amp; JCAMP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Automated diagnostic band overlay for key organic functional groups: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- 3600–3200 cm⁻¹: O-H / N-H stretching vibrations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- 3100–2850 cm⁻¹: C-H aliphatic / aromatic stretches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- 1750–1680 cm⁻¹: C=O carbonyl stretching band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- 2260–2100 cm⁻¹: Triple bonds (C≡C, C≡N)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&lt; 1500 cm⁻¹: Fingerprint diagnostic region.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Full IUPAC JCAMP-DX 5.01 Infrared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3D MOLECULE VIEWER (WEBGL)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3D Conformers &amp; Interactive Molecular Mechanics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3Dmol.js WebGL Integration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Hardware-Accelerated WebGL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Hardware-accelerated 3D molecular visualization rendered natively in the Qt tab.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Direct loading of DFT-optimized coordinates from nmrshiftdb2.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Instant RDKit ETKDGv3 conformer generation from arbitrary 2D SMILES.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Fluid 3D rotation, translation, and zooming with intuitive mouse controls.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Real-time cross-highlighting: Selecting NMR peaks renders corresponding atoms as glowing gold spheres.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⚡ MMFF94 Force Field Energy Minimization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Molecular Mechanics (MMFF94)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Integrated RDKit MMFF94 (Merck Molecular Force Field) optimization engine.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One-click trigger: '⚡ MMFF94 Optimize' relaxes bond lengths, angles, and torsional strain.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Live animated relaxation: Watch the molecule dynamically fold and relieve steric clashes.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Calculation and real-time display of total conformational strain energy in kcal/mol.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Generates clean, physically sound 3D geometries for accurate spatial inspection.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DOCUMENTATION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Persistent Research Logbook &amp; Automated Lab Reports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📔 Persistent Research Logbook (SQLite)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Local SQLite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Local relational SQLite database (user_logbook.db) permanently saves your research state.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Dedicated Logbook tab (Alt+5) featuring Starred Bookmarks (⭐) and History (🕒).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One-click bookmarking on every search result card and NMRexp browse view.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Custom experimental notes editor and multi-tag system for structured sample management.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Fast-action shortcuts: Send bookmarked entries directly to Ketcher, 3D, or NMR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📑 Automated Certificate of Analysis (HTML / PDF)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Publication-Ready A4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One-click generation of publication-ready, print-formatted A4 analytical certificates.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Includes high-resolution 2D structure diagram with numbered atom labels and properties.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Comprehensive peak assignment tables (multiplicity, J-coupling, integrals, DLNMR1 shifts).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Seamlessly embeds user research notes, project tags, and custom timestamps.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Exportable as clean, responsive HTML and standalone vector-rendered PDF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TECH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Modular System Architecture &amp; Robust Engineering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Presentation &amp; UI Layer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PySide6 / Qt6 Desktop GUI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PySide6 / Qt6 delivering native desktop responsiveness on Windows 10/11.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QWebEngineView hosting Ketcher 2D, 3Dmol.js, and HTML5 canvas spectrum engines.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Bi-directional internationalization engine (i18n.py) with live language toggle.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Robust JSON-backed persistent configuration management (config_manager.py).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Asynchronous Workers &amp; AI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Asynchronous &amp; Multithreaded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SearchWorker background thread isolates heavy database querying from UI thread.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PyTorch TorchScript (CPU) executing DLNMR1 deep-learning models in &lt; 20 ms.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Pure NumPy Kuhn-Munkres bipartite matching solver executing in &lt; 0.1 ms.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RDKit cheminformatics core for fingerprinting, MMFF94, and 3D coordinate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High-Speed Data Layer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Parquet, SQLite &amp;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Apache Parquet with Snappy compression for scanning millions of spectra in seconds.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Binary NumPy npz indices for instant precursor m/z and NMR nuclei filtering.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Embedded SQLite relational database for user logbooks, notes, and favorites.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Standard export pipeline: IUPAC JCAMP-DX 5.01, NIST MSP, CSV, SDF, HTML &amp; PDF.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PRACTICAL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Real-World Workflows &amp; Applications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Synthetic Chemistry &amp; QC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Organic &amp; MedChem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Rapidly benchmark synthesized compounds against 3.37M experimental literature spectra.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Verify isomeric purity and detect side-products using inverted mirror plots.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Deconvolute ambiguous peak signals with instant AI predictions, eliminating DFT delays.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Generate instant A4 PDF laboratory certificates for documentation and project handovers.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Bioanalytics &amp; Metabolomics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Metabolomics &amp; Impurity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Identify unknown metabolites and trace impurities in complex biological matrices.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Query 1.75 million MoNa mass spectra via high-speed precursor m/z tolerance search.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Elucidate fragmentation mechanisms using the interactive Neutral-Loss Calculator.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Correlate MS, IR, and NMR evidence for incontrovertible structure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Academic Teaching &amp; Education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University &amp; 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Highly engaging educational tool for university chemistry and pharmacy courses.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Visually demonstrates coupling patterns, Pascal trees, and multiplet collapse across MHz.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Hands-on experience with modern chemical AI and multimodal scientific databases.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Completely free, portable, and unrestricted by expensive proprietary licensing.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CONCLUSION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 &amp; Future Roadmap: What Lies Ahead</a:t>
            </a:r>
          </a:p>
        </p:txBody>
      </p:sp>
      <p:pic>
        <p:nvPicPr>
          <p:cNvPr id="7" name="Picture 6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Spectroscopy, Structure Elucidation &amp; Cheminformatics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Key Strengths of HGTTD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HGTTD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5.2+ Million Curated Spectra: NMR (3.37M), MS (1.75M), IR (133k) &amp; 54k 3D conformers.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Fully Offline &amp; Private: Zero cloud dependency; absolute data confidentiality for IP.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AI-Powered Elucidation: Sub-20ms DLNMR1 inference combined with Kuhn-Munkres matching.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Maximum Interactivity: 60-FPS canvas, 3D cross-highlighting, mirror plots, neutral losses.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Unified Chemical Workflow: Integrated Ketcher, 3Dmol.js, SQLite logbook, and PDF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Development Roadmap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Upcoming Innovations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• Deep-learning shift prediction expansion to 19F and 31P heteroatom nuclei.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• 2D-NMR physical simulation &amp; interactive contour plots (COSY, HSQC, HMBC).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• Automated peak deconvolution algorithms for resolving crowded overlapping multiplet zones.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• Direct integration with Electronic Lab Notebooks (ELN) and laboratory LIMS systems.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• Community plugin framework for custom spectrometer file formats and processing 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